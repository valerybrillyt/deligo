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7" r:id="rId2"/>
  </p:sldMasterIdLst>
  <p:notesMasterIdLst>
    <p:notesMasterId r:id="rId20"/>
  </p:notesMasterIdLst>
  <p:sldIdLst>
    <p:sldId id="256" r:id="rId3"/>
    <p:sldId id="270" r:id="rId4"/>
    <p:sldId id="279" r:id="rId5"/>
    <p:sldId id="258" r:id="rId6"/>
    <p:sldId id="259" r:id="rId7"/>
    <p:sldId id="268" r:id="rId8"/>
    <p:sldId id="317" r:id="rId9"/>
    <p:sldId id="319" r:id="rId10"/>
    <p:sldId id="320" r:id="rId11"/>
    <p:sldId id="321" r:id="rId12"/>
    <p:sldId id="322" r:id="rId13"/>
    <p:sldId id="323" r:id="rId14"/>
    <p:sldId id="318" r:id="rId15"/>
    <p:sldId id="302" r:id="rId16"/>
    <p:sldId id="297" r:id="rId17"/>
    <p:sldId id="280" r:id="rId18"/>
    <p:sldId id="267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R7yFNaIG/aimm2QqEVwP9gU8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0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16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28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31f63892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731f63892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FF4AD5-A19C-B686-3C4B-F57F7B41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F38306D-46C9-3BB2-9AFE-F78B477F2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402691CB-B46B-CC3D-C8C0-88DCD88F1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861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4E38E7A-3187-7024-AAE9-9F288102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A5D3DEBB-9007-794E-BD9D-E959A13AB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C3762023-94A1-FF99-488E-31DCD8A7B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02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0A5BA0-E291-706C-5356-C598656B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5F1F8B9D-330A-3428-9F9A-5ED2A8216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1121E154-0C87-F8EC-4A79-3B0F41747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0817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8D2F59-7851-2D3F-A717-E4105B66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C659165-33CB-4ACC-637C-C78F05163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835526A3-538B-15B4-DAD8-E27DC5DA5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48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A6A5922-B247-02A7-BFD2-A4358D5D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1452D811-AAF4-FB22-53D4-3CB6505BC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580901EC-C8B3-6E07-C0EF-0CFD9CA59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8848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0412611-1366-9D0B-44A9-34880AA8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CDCB5FD4-FD6C-CA4C-C539-5CA1C4AF3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462570A9-2278-F264-46C2-362D1B298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6113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E6BC3D-55BC-0804-8AFD-C6E42664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1898692-C059-D4DF-97E1-5F6CAEC77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0818DCDF-C58F-8126-E675-60E126A72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950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5e2434d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7f5e2434d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561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722fb1a289_0_45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722fb1a289_0_45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g722fb1a289_0_45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g722fb1a289_0_450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g722fb1a289_0_450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2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g722fb1a289_0_45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722fb1a289_0_45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722fb1a289_0_45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4469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AC94F-79C9-461C-BC26-EF4D87B0B354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9E00B-97E2-42B9-B403-CFD8281424C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9097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751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412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7356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7775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1375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6308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2409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1267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9540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3034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17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7FE0C-27CD-4620-89E6-3B05D4262BA3}" type="datetimeFigureOut">
              <a:rPr lang="es-PE" smtClean="0"/>
              <a:t>25/09/2025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4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1477108" y="1535724"/>
            <a:ext cx="9512400" cy="9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PE" dirty="0"/>
              <a:t>Diseño de Patrones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Sesión 7:</a:t>
            </a:r>
            <a:r>
              <a:rPr lang="es-PE" sz="4000" b="1" dirty="0">
                <a:solidFill>
                  <a:schemeClr val="dk1"/>
                </a:solidFill>
              </a:rPr>
              <a:t> </a:t>
            </a:r>
            <a:endParaRPr sz="4000" b="1" dirty="0">
              <a:solidFill>
                <a:schemeClr val="dk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Factory</a:t>
            </a:r>
            <a:r>
              <a:rPr lang="pt-BR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10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Conocimientos previos:	</a:t>
            </a:r>
            <a:endParaRPr sz="4000" b="1" dirty="0">
              <a:solidFill>
                <a:srgbClr val="FF0000"/>
              </a:solidFill>
            </a:endParaRPr>
          </a:p>
          <a:p>
            <a:pPr marL="539750" lvl="0" indent="-539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s-E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el Patrón Factory?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Logro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MX" sz="3200" b="1" dirty="0">
                <a:solidFill>
                  <a:schemeClr val="dk1"/>
                </a:solidFill>
              </a:rPr>
              <a:t>Al ﬁnalizar la sesión, el estudiante diseña componente de software, usando el patrón Factory, de un caso de estudio.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31f638921_0_8"/>
          <p:cNvSpPr txBox="1">
            <a:spLocks noGrp="1"/>
          </p:cNvSpPr>
          <p:nvPr>
            <p:ph type="body" idx="1"/>
          </p:nvPr>
        </p:nvSpPr>
        <p:spPr>
          <a:xfrm>
            <a:off x="625033" y="469339"/>
            <a:ext cx="10722417" cy="37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Utilidad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¿Qué pasaría si no conocemos el patrón Factory?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¿Sabríamos construir software?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Conocer el patrón Factory es útil porque permite construir  componente de software.</a:t>
            </a:r>
            <a:endParaRPr lang="es-ES" sz="2800" b="1" dirty="0">
              <a:solidFill>
                <a:schemeClr val="dk1"/>
              </a:solidFill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509"/>
            <a:ext cx="10515600" cy="5620312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Transformación de la sesión: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Patrón Factory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Componente de software</a:t>
            </a:r>
          </a:p>
          <a:p>
            <a:pPr marL="685800" indent="-457200">
              <a:buFont typeface="+mj-lt"/>
              <a:buAutoNum type="arabicPeriod"/>
            </a:pPr>
            <a:endParaRPr lang="es-MX" sz="3200" b="1" dirty="0">
              <a:solidFill>
                <a:schemeClr val="tx1"/>
              </a:solidFill>
            </a:endParaRPr>
          </a:p>
          <a:p>
            <a:endParaRPr lang="es-MX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2272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884E4A1-C3D7-F194-743C-1B21F6E3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2F199E61-DCB6-A0FB-60E6-8E582AAF012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838AE860-B881-4F7C-7DB6-EEFE5E30002E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3E7C9344-4FEE-7B08-FC5D-F0D5AE2980A6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24CF34F0-D06F-7BE1-1367-9AF5495330FD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612B4F55-B4B3-1A99-C73D-E631C92824AE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32BCA70-CEC9-1CB0-1E93-532EAFE5E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patrón de diseño Factory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(Método de Fábrica) es un patrón creacional que define una interfaz para crear objetos, pero permite que las subclases decidan qué clase de objetos instanciar.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Su objetivo es desacoplar el código cliente de la creación exacta de objetos, ofreciendo un método para instanciar objetos sin especificar directamente su clase, lo que aumenta la flexibilidad, escalabilidad y mantenibilidad del código.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6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72BAC2-42C8-48D1-4A32-5CB0084D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1CB024D-E0A2-E3CB-C610-DFD30D60C14C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673CBEBE-3C62-EAA6-6D07-6D86D160305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CE408603-7152-2E53-47CA-C550B2F8BDC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90DDD7A-FEA4-BA0A-1A43-9D7A905688B2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B54ACC6-AA88-DE40-C084-31B29DA70EF9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4ABD8767-C752-8731-2D86-CF78FE1E2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¿Cómo funciona?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Interfaz de Producto: Se define una interfaz o clase abstracta para los productos que se crearán.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Clases de Producto Concretas: Se crean varias clases que implementan esta interfaz, y son los objetos específicos que se instanciarán.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Interfaz de Fábrica (o Creador): Se define una clase o interfaz abstracta que contiene un método abstracto para crear productos.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Clases de Fábrica Concretas: Estas clases heredan de la interfaz de fábrica y son responsables de implementar el método de creación para instanciar un tipo de producto específico.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8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06B28E6-87EA-132B-A709-DA6A05D0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1E866C02-CB36-176E-AB25-6420C4460B9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EC678EC4-508E-A960-24F7-0865E4FDE95B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945BA7B1-0D61-A55F-DF5A-1CFE459E49CE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CB1B3FF9-2B1A-A993-C75B-C095BF4BDC58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4DDACC4D-6C9C-84AF-9C72-364FEBFD4E5A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D3B56B3C-66D6-C7E3-CB07-D9197EC46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Ventajas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Desacoplamiento: El cliente no necesita saber la clase concreta del objeto que se va a crear, solo interactúa con la interfaz.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Flexibilidad y Escalabilidad: Facilita la adición de nuevas clases de productos sin modificar la lógica de creación existente, lo que simplifica la expansión del código base.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Encapsulamiento: La lógica de creación de objetos se centraliza en las clases fábrica, haciendo el código más organizado y mantenible.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77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1B41265-9390-53D1-8F70-EA0A4A98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D157B6E-29B4-3872-4BFF-FA9A3EF6FBB6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AD2144C7-F87C-0CAE-00C3-2B63BCFF3F7B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2743CB26-E3CD-F21A-43D0-5D742D266FEE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FA4A34B-BDF4-8992-0174-BBDAE74AF360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772E8F13-8E4E-8D24-7AD7-FEEB397A3446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633A6FC-1C8F-322C-697F-1730DDA90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Casos de uso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Creación de objetos con variaciones: Se usa cuando hay diferentes formas de realizar una tarea y se necesita elegir la implementación correcta en tiempo de ejecución.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Manejo de familias de objetos: Permite la creación de objetos de diferentes tipos que pertenecen a una familia, que puede variar dinámicamente según las necesidades.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Conexiones a bases de datos: Un ejemplo clásico es la creación de diferentes objetos de conexión a bases de datos (PostgreSQL, MySQL, etc.), permitiendo cambiar entre ellas sin modificar el código del cliente.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99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A9B57F7-5D4D-ED80-AB1F-E2BFA36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DF070453-D03D-CCD5-0C32-FB4C0B23F230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738631B9-CF75-B149-66D4-A0E4CFA7710A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9B13C519-5636-53AE-5891-47E60A0F04E0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DEF67A3E-498A-CF07-7314-3B7BD47C452A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D8F89749-28A9-9775-AD50-7D6017CD3774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888D8E-ACCA-581E-9B84-C55F8CDBD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16" y="1345221"/>
            <a:ext cx="5115639" cy="50965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349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749C94-771B-7161-B875-B1CA2C24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FF31EA25-2091-74AF-F1AB-3F6918408F07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8D89A41-122C-D879-C16A-B422E15D9F28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EAA32E5C-96E9-9201-D59F-2985708EDEE8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C335782-9F31-0069-4085-7A1C80663B1F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82058D80-5940-6EE2-2DB2-E85C1A2E8483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Factory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D15C7-DB8D-9CC5-9E45-AA14C4F9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77" y="2266460"/>
            <a:ext cx="5315692" cy="246731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7973D9-B800-DDFC-2957-1EF18F977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469" y="2190577"/>
            <a:ext cx="4848902" cy="24768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3511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C4B2242-F7F5-55EC-7DAB-4CBA9645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06B96D05-90B1-2344-4568-60096BFFFAA4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D95FB2A-71B2-CE7A-8876-2FC6A943B022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4536C5A-B787-9163-5E45-61646C0DB4CC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C3A65D9-F77E-AD76-CE8F-D63F5DEFF289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E73A18B-A0F6-B356-796B-0333D5B57D57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2. Componentes de software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6C2AE900-517F-7834-464E-41C0EC54F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Los componentes de software son las piezas modulares e independientes de un programa que se pueden reutilizar y que proporcionan funcionalidades específicas, interactuando entre sí para formar un sistema completo.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Incluyen elementos como el código fuente, la interfaz de usuario (UI), los archivos de configuración y la documentación, los cuales son esenciales para el funcionamiento y la interacción con el usuario.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44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Espacio práctico: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dirty="0">
                <a:solidFill>
                  <a:schemeClr val="tx1"/>
                </a:solidFill>
              </a:rPr>
              <a:t>Implementación de componentes de software</a:t>
            </a:r>
          </a:p>
        </p:txBody>
      </p:sp>
    </p:spTree>
    <p:extLst>
      <p:ext uri="{BB962C8B-B14F-4D97-AF65-F5344CB8AC3E}">
        <p14:creationId xmlns:p14="http://schemas.microsoft.com/office/powerpoint/2010/main" val="1394914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f5e2434d8_1_0"/>
          <p:cNvSpPr/>
          <p:nvPr/>
        </p:nvSpPr>
        <p:spPr>
          <a:xfrm>
            <a:off x="1802997" y="137359"/>
            <a:ext cx="8640800" cy="7708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FFFFFF"/>
              </a:buClr>
              <a:buSzPts val="4000"/>
            </a:pPr>
            <a:r>
              <a:rPr lang="es-PE" sz="5333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estudio </a:t>
            </a:r>
            <a:endParaRPr sz="1867" dirty="0"/>
          </a:p>
        </p:txBody>
      </p:sp>
      <p:sp>
        <p:nvSpPr>
          <p:cNvPr id="179" name="Google Shape;179;g7f5e2434d8_1_0"/>
          <p:cNvSpPr txBox="1">
            <a:spLocks noGrp="1"/>
          </p:cNvSpPr>
          <p:nvPr>
            <p:ph type="body" idx="1"/>
          </p:nvPr>
        </p:nvSpPr>
        <p:spPr>
          <a:xfrm>
            <a:off x="831850" y="1288026"/>
            <a:ext cx="10515600" cy="28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 algn="just"/>
            <a:r>
              <a:rPr lang="es-ES" sz="2000" b="1" dirty="0">
                <a:solidFill>
                  <a:schemeClr val="tx1"/>
                </a:solidFill>
                <a:cs typeface="Times New Roman" pitchFamily="18" charset="0"/>
              </a:rPr>
              <a:t>Caso de estudio: Tienda</a:t>
            </a:r>
          </a:p>
          <a:p>
            <a:pPr marL="0" indent="0" algn="just"/>
            <a:r>
              <a:rPr lang="es-ES" sz="2000" dirty="0">
                <a:solidFill>
                  <a:schemeClr val="tx1"/>
                </a:solidFill>
                <a:cs typeface="Times New Roman" pitchFamily="18" charset="0"/>
              </a:rPr>
              <a:t>La empresa comercial “Alfa S.A.” es líder en la comercialización de artículos de primera necesidad. Cuando se realiza una venta el cliente ingresa a la tienda, se dirige al exhibidor de artículos organizados en secciones, clasificados por su naturaleza (galletas, cereales, frutas, carnes, etc.), selecciona el o los articulo(s) a comprar y agrega a un carrito de compras, luego se dirige a la caja registradora para cancelar, es atendido por el cajero(a) quien elabora la boleta de  venta y entrega los artículos.</a:t>
            </a:r>
          </a:p>
          <a:p>
            <a:pPr marL="0" indent="0" algn="just"/>
            <a:endParaRPr lang="es-MX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00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770" y="618844"/>
            <a:ext cx="10515600" cy="5620312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Cierre de la sesión</a:t>
            </a:r>
            <a:r>
              <a:rPr lang="es-ES" sz="4000" b="1" dirty="0">
                <a:solidFill>
                  <a:schemeClr val="tx1"/>
                </a:solidFill>
                <a:latin typeface="+mn-lt"/>
              </a:rPr>
              <a:t>: Conocimos</a:t>
            </a:r>
            <a:r>
              <a:rPr lang="es-ES" sz="4000" b="1" dirty="0">
                <a:solidFill>
                  <a:srgbClr val="FF0000"/>
                </a:solidFill>
                <a:latin typeface="+mn-lt"/>
              </a:rPr>
              <a:t>	</a:t>
            </a:r>
            <a:endParaRPr lang="es-PE" dirty="0"/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Patrón Factory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Componentes de software</a:t>
            </a:r>
          </a:p>
          <a:p>
            <a:pPr marL="228600" indent="0"/>
            <a:endParaRPr lang="es-MX" sz="2800" b="1" dirty="0">
              <a:solidFill>
                <a:schemeClr val="tx1"/>
              </a:solidFill>
            </a:endParaRPr>
          </a:p>
          <a:p>
            <a:pPr marL="685800" indent="-457200">
              <a:buFont typeface="+mj-lt"/>
              <a:buAutoNum type="arabicPeriod"/>
            </a:pPr>
            <a:endParaRPr lang="es-MX" sz="2800" b="1" dirty="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endParaRPr lang="es-ES" sz="40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035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705</Words>
  <Application>Microsoft Office PowerPoint</Application>
  <PresentationFormat>Panorámica</PresentationFormat>
  <Paragraphs>63</Paragraphs>
  <Slides>17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TemaUTP</vt:lpstr>
      <vt:lpstr>Diseño personalizado</vt:lpstr>
      <vt:lpstr>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Algoritmos Principios de Algoritmos Principios de Algoritmos Principios de Algoritmos Principios de Algoritmos</dc:title>
  <dc:creator>Orians, A.J.</dc:creator>
  <cp:lastModifiedBy>edwin josé chunga huatay</cp:lastModifiedBy>
  <cp:revision>83</cp:revision>
  <dcterms:modified xsi:type="dcterms:W3CDTF">2025-09-26T01:44:05Z</dcterms:modified>
</cp:coreProperties>
</file>