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7" r:id="rId2"/>
  </p:sldMasterIdLst>
  <p:notesMasterIdLst>
    <p:notesMasterId r:id="rId22"/>
  </p:notesMasterIdLst>
  <p:sldIdLst>
    <p:sldId id="256" r:id="rId3"/>
    <p:sldId id="270" r:id="rId4"/>
    <p:sldId id="279" r:id="rId5"/>
    <p:sldId id="258" r:id="rId6"/>
    <p:sldId id="259" r:id="rId7"/>
    <p:sldId id="268" r:id="rId8"/>
    <p:sldId id="317" r:id="rId9"/>
    <p:sldId id="319" r:id="rId10"/>
    <p:sldId id="322" r:id="rId11"/>
    <p:sldId id="321" r:id="rId12"/>
    <p:sldId id="323" r:id="rId13"/>
    <p:sldId id="324" r:id="rId14"/>
    <p:sldId id="328" r:id="rId15"/>
    <p:sldId id="318" r:id="rId16"/>
    <p:sldId id="331" r:id="rId17"/>
    <p:sldId id="302" r:id="rId18"/>
    <p:sldId id="297" r:id="rId19"/>
    <p:sldId id="280" r:id="rId20"/>
    <p:sldId id="26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0" roundtripDataSignature="AMtx7mgR7yFNaIG/aimm2QqEVwP9gU8E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40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8162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1f63892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731f63892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28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1f63892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731f63892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31f63892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731f63892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AFF4AD5-A19C-B686-3C4B-F57F7B41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DF38306D-46C9-3BB2-9AFE-F78B477F2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402691CB-B46B-CC3D-C8C0-88DCD88F1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861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4E38E7A-3187-7024-AAE9-9F288102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A5D3DEBB-9007-794E-BD9D-E959A13AB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C3762023-94A1-FF99-488E-31DCD8A7B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2020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F4633A7-D11D-7E58-36E3-12BA33DC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4DEE71F7-16BC-C879-ABD9-4944552E0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B4B987AC-32FD-0B58-5A45-E2EB1D66B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7986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08D2F59-7851-2D3F-A717-E4105B66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9C659165-33CB-4ACC-637C-C78F05163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835526A3-538B-15B4-DAD8-E27DC5DA5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348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C4BBC6-3566-7D50-951B-3AF5CA3E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8C78F4FD-3AE7-17D3-444B-CEF89E635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93719F9A-D17E-1E15-9E0A-F62ABB789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0346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E8D3432-A90D-12AE-DBF2-1375849C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D8BED1FE-5341-1D17-BC52-73CE47B2D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75A939A4-DFA1-494A-E3F4-95C3F866F3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453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E873D50-4064-8FEB-90CA-1EA8B791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B8576E3D-44CC-E78B-9369-138B5FE52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1F5E477A-4648-3B7C-DEC9-D53400746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853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FE6BC3D-55BC-0804-8AFD-C6E42664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91898692-C059-D4DF-97E1-5F6CAEC77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0818DCDF-C58F-8126-E675-60E126A72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950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7ED822E-0EBD-0DA3-5095-22239482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628b7ee3_0_294:notes">
            <a:extLst>
              <a:ext uri="{FF2B5EF4-FFF2-40B4-BE49-F238E27FC236}">
                <a16:creationId xmlns:a16="http://schemas.microsoft.com/office/drawing/2014/main" id="{D9D1A0DE-1F02-1D12-4BBF-E473933EC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7f628b7ee3_0_294:notes">
            <a:extLst>
              <a:ext uri="{FF2B5EF4-FFF2-40B4-BE49-F238E27FC236}">
                <a16:creationId xmlns:a16="http://schemas.microsoft.com/office/drawing/2014/main" id="{EE65245A-F440-2800-98CA-90ADB38E3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0484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5e2434d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7f5e2434d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2561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722fb1a289_0_45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722fb1a289_0_45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g722fb1a289_0_45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g722fb1a289_0_450"/>
          <p:cNvSpPr txBox="1">
            <a:spLocks noGrp="1"/>
          </p:cNvSpPr>
          <p:nvPr>
            <p:ph type="body" idx="3"/>
          </p:nvPr>
        </p:nvSpPr>
        <p:spPr>
          <a:xfrm>
            <a:off x="6193367" y="1535113"/>
            <a:ext cx="53892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g722fb1a289_0_450"/>
          <p:cNvSpPr txBox="1">
            <a:spLocks noGrp="1"/>
          </p:cNvSpPr>
          <p:nvPr>
            <p:ph type="body" idx="4"/>
          </p:nvPr>
        </p:nvSpPr>
        <p:spPr>
          <a:xfrm>
            <a:off x="6193367" y="2174875"/>
            <a:ext cx="5389200" cy="39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g722fb1a289_0_45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722fb1a289_0_45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722fb1a289_0_45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14469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AC94F-79C9-461C-BC26-EF4D87B0B354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9E00B-97E2-42B9-B403-CFD8281424C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9097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751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2412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73566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07775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13757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63081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2409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12679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95408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3034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17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7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7FE0C-27CD-4620-89E6-3B05D4262BA3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901DC-6920-45C0-A702-ABCEF3FA42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4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ctrTitle"/>
          </p:nvPr>
        </p:nvSpPr>
        <p:spPr>
          <a:xfrm>
            <a:off x="1477108" y="1535724"/>
            <a:ext cx="9512400" cy="952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PE" dirty="0"/>
              <a:t>Diseño de Patrones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Sesión 13:</a:t>
            </a:r>
            <a:r>
              <a:rPr lang="es-PE" sz="4000" b="1" dirty="0">
                <a:solidFill>
                  <a:schemeClr val="dk1"/>
                </a:solidFill>
              </a:rPr>
              <a:t> </a:t>
            </a:r>
            <a:endParaRPr sz="4000" b="1" dirty="0">
              <a:solidFill>
                <a:schemeClr val="dk1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Memento</a:t>
            </a:r>
            <a:r>
              <a:rPr lang="pt-BR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6107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31f638921_0_4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Conocimientos previos:	</a:t>
            </a:r>
            <a:endParaRPr sz="4000" b="1" dirty="0">
              <a:solidFill>
                <a:srgbClr val="FF0000"/>
              </a:solidFill>
            </a:endParaRPr>
          </a:p>
          <a:p>
            <a:pPr marL="539750" lvl="0" indent="-53975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s-E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el Patrón Memento?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6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31f638921_0_4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Logro de la sesión:	</a:t>
            </a:r>
            <a:endParaRPr sz="4000" b="1" dirty="0">
              <a:solidFill>
                <a:srgbClr val="FF0000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MX" sz="3200" b="1" dirty="0">
                <a:solidFill>
                  <a:schemeClr val="dk1"/>
                </a:solidFill>
              </a:rPr>
              <a:t>Al ﬁnalizar la sesión, el estudiante diseña componente de software, usando el patrón </a:t>
            </a:r>
            <a:r>
              <a:rPr lang="es-E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Memento</a:t>
            </a:r>
            <a:r>
              <a:rPr lang="es-MX" sz="3200" b="1" dirty="0">
                <a:solidFill>
                  <a:schemeClr val="dk1"/>
                </a:solidFill>
              </a:rPr>
              <a:t>, de un caso de estudio.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31f638921_0_8"/>
          <p:cNvSpPr txBox="1">
            <a:spLocks noGrp="1"/>
          </p:cNvSpPr>
          <p:nvPr>
            <p:ph type="body" idx="1"/>
          </p:nvPr>
        </p:nvSpPr>
        <p:spPr>
          <a:xfrm>
            <a:off x="625033" y="469339"/>
            <a:ext cx="10722417" cy="37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PE" sz="4000" b="1" dirty="0">
                <a:solidFill>
                  <a:srgbClr val="FF0000"/>
                </a:solidFill>
              </a:rPr>
              <a:t>Utilidad de la sesión:	</a:t>
            </a:r>
            <a:endParaRPr sz="4000" b="1" dirty="0">
              <a:solidFill>
                <a:srgbClr val="FF0000"/>
              </a:solidFill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s-ES" sz="2800" b="1" dirty="0">
                <a:solidFill>
                  <a:schemeClr val="dk1"/>
                </a:solidFill>
              </a:rPr>
              <a:t>¿Qué pasaría si no conocemos el patrón </a:t>
            </a:r>
            <a:r>
              <a:rPr lang="es-E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Memento</a:t>
            </a:r>
            <a:r>
              <a:rPr lang="es-ES" sz="2800" b="1" dirty="0">
                <a:solidFill>
                  <a:schemeClr val="dk1"/>
                </a:solidFill>
              </a:rPr>
              <a:t>?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s-ES" sz="2800" b="1" dirty="0">
                <a:solidFill>
                  <a:schemeClr val="dk1"/>
                </a:solidFill>
              </a:rPr>
              <a:t>¿Sabríamos construir software?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s-ES" sz="2800" b="1" dirty="0">
                <a:solidFill>
                  <a:schemeClr val="dk1"/>
                </a:solidFill>
              </a:rPr>
              <a:t>Conocer el patrón </a:t>
            </a:r>
            <a:r>
              <a:rPr lang="es-E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Memento</a:t>
            </a:r>
            <a:r>
              <a:rPr lang="es-ES" sz="2800" b="1" dirty="0">
                <a:solidFill>
                  <a:schemeClr val="dk1"/>
                </a:solidFill>
              </a:rPr>
              <a:t> es útil porque permite construir  componente de software.</a:t>
            </a:r>
            <a:endParaRPr lang="es-ES" sz="2800" b="1" dirty="0">
              <a:solidFill>
                <a:schemeClr val="dk1"/>
              </a:solidFill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EC6DAFC-5C18-4F43-8012-B71B82A05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509"/>
            <a:ext cx="10515600" cy="5620312"/>
          </a:xfrm>
        </p:spPr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rgbClr val="FF0000"/>
                </a:solidFill>
                <a:latin typeface="+mn-lt"/>
              </a:rPr>
              <a:t>Transformación de la sesión:	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3200" b="1" dirty="0">
                <a:solidFill>
                  <a:schemeClr val="tx1"/>
                </a:solidFill>
              </a:rPr>
              <a:t>Patrón </a:t>
            </a:r>
            <a:r>
              <a:rPr lang="es-E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Memento</a:t>
            </a:r>
            <a:endParaRPr lang="es-ES" sz="3200" b="1" dirty="0">
              <a:solidFill>
                <a:schemeClr val="tx1"/>
              </a:solidFill>
            </a:endParaRPr>
          </a:p>
          <a:p>
            <a:pPr marL="685800" indent="-457200">
              <a:buFont typeface="+mj-lt"/>
              <a:buAutoNum type="arabicPeriod"/>
            </a:pPr>
            <a:r>
              <a:rPr lang="es-ES" sz="3200" b="1" dirty="0">
                <a:solidFill>
                  <a:schemeClr val="tx1"/>
                </a:solidFill>
              </a:rPr>
              <a:t>Programación con Microservicios: FRONT END</a:t>
            </a:r>
          </a:p>
          <a:p>
            <a:pPr marL="685800" indent="-457200">
              <a:buFont typeface="+mj-lt"/>
              <a:buAutoNum type="arabicPeriod"/>
            </a:pPr>
            <a:endParaRPr lang="es-MX" sz="3200" b="1" dirty="0">
              <a:solidFill>
                <a:schemeClr val="tx1"/>
              </a:solidFill>
            </a:endParaRPr>
          </a:p>
          <a:p>
            <a:endParaRPr lang="es-MX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2272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884E4A1-C3D7-F194-743C-1B21F6E3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2F199E61-DCB6-A0FB-60E6-8E582AAF012E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838AE860-B881-4F7C-7DB6-EEFE5E30002E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3E7C9344-4FEE-7B08-FC5D-F0D5AE2980A6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24CF34F0-D06F-7BE1-1367-9AF5495330FD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612B4F55-B4B3-1A99-C73D-E631C92824AE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1. Patrón Memento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832BCA70-CEC9-1CB0-1E93-532EAFE5E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0663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El patrón de diseño Memento en Java es un patrón de comportamiento que permite capturar y restaurar el estado interno de un objeto sin violar su encapsulación.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Su propósito principal es permitir al objeto volver a un estado anterior, lo que es útil para implementar funciones como "deshacer" o "rehacer" en aplicaciones como editores de texto o videojuegos.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Este patrón se implementa a través de tres componentes clave: el Originador (la clase cuyo estado se guarda), el Memento (un objeto que almacena el estado) y el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Caretaker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(el componente que gestiona los mementos). 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66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9B72BAC2-42C8-48D1-4A32-5CB0084D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81CB024D-E0A2-E3CB-C610-DFD30D60C14C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673CBEBE-3C62-EAA6-6D07-6D86D1603054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CE408603-7152-2E53-47CA-C550B2F8BDCA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790DDD7A-FEA4-BA0A-1A43-9D7A905688B2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0B54ACC6-AA88-DE40-C084-31B29DA70EF9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Componentes principales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4ABD8767-C752-8731-2D86-CF78FE1E2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49299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Originator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La clase que contiene el estado a ser guardado y que implementa los métodos para guardar y restaurar su estado.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Memento: Un objeto que almacena el estado del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Originator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en un momento determinado. En Java, este puede ser implementado usando serialización para guardar el estado sin exponer su estructura.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Caretaker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La clase responsable de guardar y restaurar el estado del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Originator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 Actúa como un gestor de los mementos, a menudo almacenándolos en una pila para permitir el deshacer/rehacer. </a:t>
            </a:r>
            <a:endParaRPr lang="es-P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3F2901-E749-CE0C-EB61-7DA675279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28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A11B909-59B6-3010-466C-1DDB7C157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3F77C9C3-FB95-D1A8-82F6-DFE0A0C7734B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CF014A7F-5F58-D56B-69AC-53CDF0FB120E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3E4FEE13-F9C3-3E27-7997-8FA2BA4B1DC0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51AFD9E6-9158-967C-96AA-A7B2DF157E47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36913462-8DE7-4BC4-0501-CC5E422707A0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Beneficios y uso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CA861604-44C3-EE75-E142-BC04C4210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52410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Funcionalidad de deshacer/rehacer: Permite implementar fácilmente la capacidad de deshacer o volver a una acción anterior.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Mantenimiento de la encapsulación: Preserva el estado del objeto sin exponer sus detalles internos, manteniendo la integridad de los datos.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Flexibilidad: Se puede aplicar a diferentes niveles de granularidad, guardando el estado completo o solo partes de él.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Casos de uso: Se puede encontrar en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frameworks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como Spring Web Flow y es útil en situaciones donde se necesitan "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checkpoints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" o restauraciones a estados previos de la aplicación.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5C51F0-1D83-20AA-B8FB-F27C05961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5482"/>
            <a:ext cx="171522" cy="930964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PE" altLang="es-PE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C57098-A439-617C-2F33-C8625A419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359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31B41265-9390-53D1-8F70-EA0A4A98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8D157B6E-29B4-3872-4BFF-FA9A3EF6FBB6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AD2144C7-F87C-0CAE-00C3-2B63BCFF3F7B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2743CB26-E3CD-F21A-43D0-5D742D266FEE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9FA4A34B-BDF4-8992-0174-BBDAE74AF360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772E8F13-8E4E-8D24-7AD7-FEEB397A3446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 Semáforo</a:t>
            </a:r>
          </a:p>
        </p:txBody>
      </p:sp>
      <p:sp>
        <p:nvSpPr>
          <p:cNvPr id="118" name="Google Shape;118;g7f628b7ee3_0_294">
            <a:extLst>
              <a:ext uri="{FF2B5EF4-FFF2-40B4-BE49-F238E27FC236}">
                <a16:creationId xmlns:a16="http://schemas.microsoft.com/office/drawing/2014/main" id="{8633A6FC-1C8F-322C-697F-1730DDA90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069" y="1054259"/>
            <a:ext cx="11259868" cy="9675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Este ejemplo ilustra cómo implementar el patrón Memento en un editor de texto para la funcionalidad de deshacer. </a:t>
            </a: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E1CF47-7ADB-35B7-1001-DD32146D6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0C249E-ABA7-AAA6-00E7-59E88D7E0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53879"/>
            <a:ext cx="65" cy="507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1EAD96-58F2-FC24-DFE5-0262887CA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184" y="2137278"/>
            <a:ext cx="8246933" cy="413524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899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122E642-C55E-8850-85B2-B79BEBD3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B640DCAC-D599-C618-50DC-4498A4238C69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8518F8A5-ECD5-7DD7-9EF1-8C8BC5B9BD05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4297F62A-7B53-C755-ECFA-0909B1665473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94125A65-F95C-5FD8-DBFA-3CB54C1ED484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26686090-876B-F709-4997-16FC39243920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9DE74C-5665-7E34-032C-B9E1EAFAE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3A89BA6-09EE-06DC-E314-480E41AE2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464335F-A866-610C-2DE5-7382234B5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5575"/>
            <a:ext cx="65" cy="631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28528" rIns="0" bIns="122199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675279-F799-B7E2-A9EE-776920C18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069" y="1054259"/>
            <a:ext cx="6620799" cy="576342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1512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B0661069-E37C-13EC-C862-E59C59EA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B27FF2A6-8C03-5F84-BD71-3EEFB8EE3CAE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403B7313-9B61-54E7-F933-C605BF3657B6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7ABA9BCB-2272-A719-C2E3-4365E315D8BD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21D21FE7-C2B9-9E1B-90B9-ABB7B7138821}"/>
              </a:ext>
            </a:extLst>
          </p:cNvPr>
          <p:cNvSpPr/>
          <p:nvPr/>
        </p:nvSpPr>
        <p:spPr>
          <a:xfrm>
            <a:off x="613833" y="95740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DCEA9B-DCE2-B799-5B88-922C74853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E691FA-70AC-B019-A8B3-AAA5477AB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26629CA-E893-519B-C736-BB9E09BA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51" y="1062710"/>
            <a:ext cx="7520600" cy="452528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7085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E72B628-4185-F453-B7F1-73B1A490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119339FF-1F2F-1A98-F239-C7A61D080F7A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4C9EDA1D-80E7-B9AA-63A3-BE3FB6BBE1E9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6AA4BC80-B8B7-059B-2295-CA773B495808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0EF299CE-756C-48D5-017C-8D13B18D99A1}"/>
              </a:ext>
            </a:extLst>
          </p:cNvPr>
          <p:cNvSpPr/>
          <p:nvPr/>
        </p:nvSpPr>
        <p:spPr>
          <a:xfrm>
            <a:off x="613833" y="95740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Ejemplo: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38EDD3-AC6E-EDC5-33C3-A61686FB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59"/>
            <a:ext cx="65" cy="48211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43B0134-16F8-E76A-481F-9060B40E2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DB8AD1E-C5D4-F902-A054-50090973A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863" y="814022"/>
            <a:ext cx="7110542" cy="54750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2727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C4B2242-F7F5-55EC-7DAB-4CBA96454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06B96D05-90B1-2344-4568-60096BFFFAA4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4D95FB2A-71B2-CE7A-8876-2FC6A943B022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44536C5A-B787-9163-5E45-61646C0DB4CC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7C3A65D9-F77E-AD76-CE8F-D63F5DEFF289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0E73A18B-A0F6-B356-796B-0333D5B57D57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2. Programación con Microservicios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74EC8C-1162-553B-E825-DB84DD43D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AA9632-4BF8-50F1-A055-1B258BFA0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33" y="1084302"/>
            <a:ext cx="10515600" cy="5218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PE" sz="2000" dirty="0"/>
              <a:t>Arquitectura de Microservicios: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7970C46-279F-BC10-2D67-5DDA4AFF6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070" y="1751621"/>
            <a:ext cx="7278130" cy="474972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445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CF69E856-AF74-B772-F921-0ED703C8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f628b7ee3_0_294" descr="Resultado de imagen para cinta aislante">
            <a:extLst>
              <a:ext uri="{FF2B5EF4-FFF2-40B4-BE49-F238E27FC236}">
                <a16:creationId xmlns:a16="http://schemas.microsoft.com/office/drawing/2014/main" id="{39DA2C8A-B643-22C6-7843-7F18A1B5190E}"/>
              </a:ext>
            </a:extLst>
          </p:cNvPr>
          <p:cNvSpPr/>
          <p:nvPr/>
        </p:nvSpPr>
        <p:spPr>
          <a:xfrm>
            <a:off x="207433" y="-192617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7f628b7ee3_0_294" descr="Resultado de imagen para cinta aislante">
            <a:extLst>
              <a:ext uri="{FF2B5EF4-FFF2-40B4-BE49-F238E27FC236}">
                <a16:creationId xmlns:a16="http://schemas.microsoft.com/office/drawing/2014/main" id="{E2A254FF-2B82-1D7A-F7CE-BE5014D736B0}"/>
              </a:ext>
            </a:extLst>
          </p:cNvPr>
          <p:cNvSpPr/>
          <p:nvPr/>
        </p:nvSpPr>
        <p:spPr>
          <a:xfrm>
            <a:off x="410633" y="105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7f628b7ee3_0_294" descr="data:image/jpeg;base64,/9j/4AAQSkZJRgABAQAAAQABAAD/2wCEAAkGBw8PDg8PDQ8NDxAPDxAUDxAODw8QDw8OFBQWFhQUFhUYHCggGBslHBUUITEhJSorLi4uFx8zODMsNygtLisBCgoKDg0OFBAQFywcHxwsLCwsKywsLCwsLCwsLSwsLSwsLCwsLCwsLCwsNyssLCwsLCwsLCwsLCwsLCwsLCwsLP/AABEIALcBEwMBIgACEQEDEQH/xAAcAAEBAAIDAQEAAAAAAAAAAAAAAQIHAwUGCAT/xABBEAACAQMABwQFCgQFBQAAAAAAAQIDBBEFBhIhMUFhBxNRgSIycZHwFCMzUnKSobHB0UJigrI0Q1Ph8SRjc5Oi/8QAFwEBAQEBAAAAAAAAAAAAAAAAAAECA//EACERAQEAAgEEAgMAAAAAAAAAAAABAhExAxIhQRNhBDJR/9oADAMBAAIRAxEAPwDdwICooIAKCFAAgAoIAKCACggAoIAKCACggAoAAAAACFAAAAAAABAKCACkAAAAAAAAAAAAAAAAAAA6vSWnaNDO9zl4Rxjzf/J5e+14rf5VOjBfzbU378pfgbx6eV9G3vAauq68Xy4Tpf8AqiWl2h3kX6cLaa+xOL96l+hv4Mk3G0AeFsO0u3lhXNCpS/mpyVWK6tbn7kz1ui9MW11Hatq1Orjiov04/ag9680c7hZzFftABkAAAAAAAAAAAAAAAAAAAAAAAAAAAAAAAAAAAbOg03pbCcIP2tcWeW107SqVJyoWKVea3Sq5+ZT8FjfPywupq3Senru4bdWvUw/4YvYh7MRxnzydsMNeaNh6Rvo5e1JL7UkvzOoqXVOXCUH7JRZr2UV4L3GLj7Pcv3O/yfSae8qs/HVkjydGvOHqSlH7Mml7j9lPSc+FTEuvqyL8kTTsq1TB+NX84TU6cpQlF5jKEnGcX4qS3o/PWuM8Hu8HxPyupkzcl02hqt2p1aezT0knWp8O/gkq0F4yit011WH7Ta9he0rilGtb1IVac1mM4PKf7PpyPluFTHx8dDu9WNaLnR1bbt5ZhJrvaMm+6qrquUvCS3rqtxxywl4V9IA6nVrWG30jQVa3fDCqU5Y7ylP6sl+T4M7Y46AAAAAAAAAAAAAAAAAAFAAAAAAAAAAgFNU9qeuUtqej7STUY7rqpF4cnzop+H1vHh4p+/1s0v8AIrG4uVjahDFNPnVk9mHllp+xM+cpzcpNybbk25NvLcm8tvqdOnj7HHIxaMzE6jBxMXHqvjyM38cjGUl089xBil1KwpfC3lAwbJJZM2jHAGMcnNFGC6nPBCDtdWtOV7C4jXoPet04NvYq0+cJfvye8+g9BaXo3tvTuKDzGa3xeNqnNetCXVf78z5qaPW9nOs7sLpQqyxbXDUa2Xupy4Rq9McH0fRGc8djfAIDiKAAAAAAAAAAAAAAAAAAAIAKCAAAANddtV042lrRT+krym+qpwxj31EafNp9t6eLB8v+p9/zJqtHfD9YDZg3gzOOfTi+BqjktrapWls01nHrOT9GPtf6He2equ3uTrVJbvRow8eWEpM9HqZq8qj2ZYVOlHarS4Zb68s79/JRZsi/cbaNt3UdilCvBSVNxgoqXo7T3pS4tNPLe1uTlg5btbusftpu71Jq01l07uG7PzlGTWOL4xR0V3oqtTTls7cVzhlvHVcT6gzzR02mdWra6Tcod3U/1aaSln+ZcJee/qjMypuX0+aU/ArXge11z1MqW9RuMUpPMoyi/m6yXh4S+N+cniV7GnzT3NP9DpLtmzRgzpzw+hMeBDSP0ORae9+0/PHJ2dpQwsviWeUbu7NtMO5sYwqSzVtcU5N8ZU8fNyfluzzcWerNQ9mN66V+qbfo3FOUGuW3FbcH+El/UbeOPUx1koADAFIAKCACggAoIAKQAAAAAAAAAAAAjX3bPa7VjQq4z3Vxh9IzhJf3Rj7zTMWfSGtei/llhc26ScqlJ93n/Wj6VP8A+oxPm3g96x0fFPwO3TvhWWTGL9OH24/mGYVOBqkbv1FinaXHJznjc9+z3axv5b2zuKi+VWbjwnKnhPalBwrxTXGLTWJJp4ecZ3niuzXS6ltU2/poLH/lp5yvNN/dR6S90qrWUpT7yoqkobFKCjtReVCbTk0tnfGWM59Z7+WMWs+XodA3CVGlSm45SlGGI7GVF4xKPCMlhppPGU8buHbHjdJX0ZUadzRi6rhLMJQlsumnlSe+MsYxhrGVv6o9DZaTjJU1P0JVIbShOS73djOVzxlbzOU9suTS2jad1RlRqrc98ZY3wnykvjesrmfP2uWh5W9aUnHZkpuFaP8ANykuj/Y+jFJPg/Lma17VdHxlPO7Na3fL+ODwpf2fdM43Vax/jT0StEpPd8fHMzZ3ZYRlhprin7z0FFJpNcGk17Dz8kd7oJ7VPD/hk15cV+ZrHlK7rQMnTurep9WtSfkpxz8dTerNIWFBucEvrLH4YN3sx1+YQABwUAAAAAAAAAAQAAEBABkDHIyBkDHJcgUgAENFdqerztL6VanHFG7cqkccI1s/Ow972v6uhvU6jWrQVPSFpUt6mE36VKeM93WXqy9m9p+KbNY3VV83tmDR+nSNjVtq1SjXi4VKUnGcXya8HzTWGnzTR+U7j9uhdJO2qp5aWU9pcYTXCSNu2F3S0pRlSrQpuTi3KCziUcJOS+9y6+elJI/bofTVW2lFxlLEXmLi8Tg/5WYssu41NWarZNrVv7GdXbpVbiltx9Nyi5yTSjHZ2XhS2285hCKi03JYPQWOmLa5px75U02k3TrOOE8/wz9WayvWg2t3E6LQnaDSqRSuYKo8b508Qqf1Qe7zWPYd3U01oqrvntN7Oy06NTa2G+DxyzjzHfLynZXdWsIwWIVqyXBKVXb2XjglLPh+Z5DtAvkqmHLaVCg9pvHryW1jcvBR+8fovtZLakn8joRjLH0tWKSgsco5zw8cI1prDpvv26dOTkpS2qtTPryznCfPfvbM88NYzXmukorCRnEiRkkdWGEjvtUouTqx6wf93+x0TPW9nts5zuJY3JU15+m/2Ljyley1Z0bt3FFY3KcZP2R3v8jZh0mrmju6htyW+SwukTujj1ct0ighTmAAAAAAAAAAAAADEFAVAUgAAAQFwTADJGytHFNlHj+0TU+OkKXfUVFXdKOI5wlXgt/dyfj4Py4PK0XWpypylCcXGUW4yjJNSjJbmmuTPpW6rYR4LXLVulf5qQ2aVylhVP4aiXCNRL8JcV1W4648DUm15jByaQsqttUdKvCUJrk+El4xfCS6o4VI2LsLkckLutHdGrUx4bTaMcmJLF2yqVKk/XnOX2pNr3PcWEcGKz8YM4lkRnkrIChg3B2U6A2bRVqiaVWcppPnHdGP4Rz/AFGvtTdXamkbqNKOVSjiVepjdClzWfrPgvfyZ9CW9GNOEadOKjCEVGMVwjFLCRzzy14g5QQHEUpCgAAQAAAAAAAAAAUQFAEBQBAUAQFAGLMJI5cEwB+SrQUuKOtudCwlwbi+h3bRi4mplYPC6d1SlXp7E4068V6uXszi/GMuT8zWGntS7q1blCnVnTXjH0or7S9F/h7D6GlA4pUzc6g+Wtrk8priuDXkY7R9I6T1as7n/EWtCo/rSpx2/vLeveeYv+yrR01818pt3/26rmvdUUvzN98Gl1IzizYt52Q1Fn5PeQa5RrUXF/ejJ/kdBf8AZzpil9HQoV+tGsuHsnssvdB52JjO4hFpTljesqK2ml44MdKaG0nRz39rdUlzaozUfvpfqdEoi5Gm8dUNPwtbdQsXSnTbzPaj6cpvi5tYeej4HrLbXaD+loyXWnJS/B4/M+brK9q0ZKdKcoSXhz9q5nsNE62xniFwlCX116j9vgWTDLmJdt7W+stpP/N2H4VIyj+PD8Ts6NxCazTnCa8YSUvyNJO+WMqSafPO44paWkvVbXVC/jz1U7m9zI1Hqa7+9uMQuLmnQptOtONSaWOUFv4v8EbcRw6mHbdbagUA5gAAAAAEKABCgAAAAAAAAAAAICkKoTBQEYtGLicgwBxOBO7OXAwNjh7sndnPgmC7HDsHW6Q1csrj/EWltVf1p0YOX3sZO4wMDY8HpDsp0TVzs0atBvnQqyWPKe0jzOkexNPLtb1rwjXpZXnKL/Q3FgYL30aFfZnpW2WFCFxFZ+hqxa8oz2X7kcmidWrytcQt5UK1GUvWlVpShGEF60m2t69nHcb2wZJHWdeycJp+DQmiaVnQhQoLEY8W/WnN8ZS6s7AhThbtQAEAAAAAAAAAAAAQpQAAAAAAAABAAAAAAAAAAAIBSAAUEAFAAApABQQAUEAFABAAyCgAQCDJQBMjJQBBkoAgKAIAAAAAAAAAAICgCAAACgCFAAAAACgCAoAgKAICgCFAA//Z">
            <a:extLst>
              <a:ext uri="{FF2B5EF4-FFF2-40B4-BE49-F238E27FC236}">
                <a16:creationId xmlns:a16="http://schemas.microsoft.com/office/drawing/2014/main" id="{5BCD8D5B-51C5-9424-41BC-AD971EB6DBEA}"/>
              </a:ext>
            </a:extLst>
          </p:cNvPr>
          <p:cNvSpPr/>
          <p:nvPr/>
        </p:nvSpPr>
        <p:spPr>
          <a:xfrm>
            <a:off x="817033" y="416983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7f628b7ee3_0_294">
            <a:extLst>
              <a:ext uri="{FF2B5EF4-FFF2-40B4-BE49-F238E27FC236}">
                <a16:creationId xmlns:a16="http://schemas.microsoft.com/office/drawing/2014/main" id="{9DA60B2A-5E93-F71C-4C2B-5B84E0D38063}"/>
              </a:ext>
            </a:extLst>
          </p:cNvPr>
          <p:cNvSpPr/>
          <p:nvPr/>
        </p:nvSpPr>
        <p:spPr>
          <a:xfrm>
            <a:off x="3119669" y="356659"/>
            <a:ext cx="5693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PE" sz="3733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Definición de los resistores.</a:t>
            </a:r>
            <a:endParaRPr sz="2400"/>
          </a:p>
        </p:txBody>
      </p:sp>
      <p:sp>
        <p:nvSpPr>
          <p:cNvPr id="117" name="Google Shape;117;g7f628b7ee3_0_294">
            <a:extLst>
              <a:ext uri="{FF2B5EF4-FFF2-40B4-BE49-F238E27FC236}">
                <a16:creationId xmlns:a16="http://schemas.microsoft.com/office/drawing/2014/main" id="{251F97AF-D614-E6CF-AF08-AE6FBA18EF14}"/>
              </a:ext>
            </a:extLst>
          </p:cNvPr>
          <p:cNvSpPr/>
          <p:nvPr/>
        </p:nvSpPr>
        <p:spPr>
          <a:xfrm>
            <a:off x="613833" y="416983"/>
            <a:ext cx="11009207" cy="5218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2. Programación con Microservicios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97A5C-36DE-059A-3867-4647CABFD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649"/>
            <a:ext cx="65" cy="4692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A233EE-92EC-9241-A1C9-8C3A2551E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33" y="1084302"/>
            <a:ext cx="10515600" cy="5218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PE" sz="2000" dirty="0"/>
              <a:t>Arquitectura de Microservicios: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ADF33BE-37D8-0CB7-8A2B-927050323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785" y="1636183"/>
            <a:ext cx="7500550" cy="508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682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EC6DAFC-5C18-4F43-8012-B71B82A05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rgbClr val="FF0000"/>
                </a:solidFill>
                <a:latin typeface="+mn-lt"/>
              </a:rPr>
              <a:t>Espacio práctico:	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3200" dirty="0">
                <a:solidFill>
                  <a:schemeClr val="tx1"/>
                </a:solidFill>
              </a:rPr>
              <a:t>Implementación de microservicios</a:t>
            </a:r>
          </a:p>
        </p:txBody>
      </p:sp>
    </p:spTree>
    <p:extLst>
      <p:ext uri="{BB962C8B-B14F-4D97-AF65-F5344CB8AC3E}">
        <p14:creationId xmlns:p14="http://schemas.microsoft.com/office/powerpoint/2010/main" val="1394914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f5e2434d8_1_0"/>
          <p:cNvSpPr/>
          <p:nvPr/>
        </p:nvSpPr>
        <p:spPr>
          <a:xfrm>
            <a:off x="1802997" y="137359"/>
            <a:ext cx="8640800" cy="77080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FFFFFF"/>
              </a:buClr>
              <a:buSzPts val="4000"/>
            </a:pPr>
            <a:r>
              <a:rPr lang="es-PE" sz="5333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de estudio </a:t>
            </a:r>
            <a:endParaRPr sz="1867" dirty="0"/>
          </a:p>
        </p:txBody>
      </p:sp>
      <p:sp>
        <p:nvSpPr>
          <p:cNvPr id="179" name="Google Shape;179;g7f5e2434d8_1_0"/>
          <p:cNvSpPr txBox="1">
            <a:spLocks noGrp="1"/>
          </p:cNvSpPr>
          <p:nvPr>
            <p:ph type="body" idx="1"/>
          </p:nvPr>
        </p:nvSpPr>
        <p:spPr>
          <a:xfrm>
            <a:off x="831850" y="1288026"/>
            <a:ext cx="10515600" cy="282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indent="0" algn="just"/>
            <a:r>
              <a:rPr lang="es-ES" sz="2000" b="1" dirty="0">
                <a:solidFill>
                  <a:schemeClr val="tx1"/>
                </a:solidFill>
                <a:cs typeface="Times New Roman" pitchFamily="18" charset="0"/>
              </a:rPr>
              <a:t>Caso de estudio: Tienda</a:t>
            </a:r>
          </a:p>
          <a:p>
            <a:pPr marL="0" indent="0" algn="just"/>
            <a:r>
              <a:rPr lang="es-ES" sz="2000" dirty="0">
                <a:solidFill>
                  <a:schemeClr val="tx1"/>
                </a:solidFill>
                <a:cs typeface="Times New Roman" pitchFamily="18" charset="0"/>
              </a:rPr>
              <a:t>La empresa comercial “Alfa S.A.” es líder en la comercialización de artículos de primera necesidad. Cuando se realiza una venta el cliente ingresa a la tienda, se dirige al exhibidor de artículos organizados en secciones, clasificados por su naturaleza (galletas, cereales, frutas, carnes, etc.), selecciona el o los articulo(s) a comprar y agrega a un carrito de compras, luego se dirige a la caja registradora para cancelar, es atendido por el cajero(a) quien elabora la boleta de  venta y entrega los artículos.</a:t>
            </a:r>
          </a:p>
          <a:p>
            <a:pPr marL="0" indent="0" algn="just"/>
            <a:endParaRPr lang="es-MX" sz="2000" dirty="0">
              <a:solidFill>
                <a:schemeClr val="tx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002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EC6DAFC-5C18-4F43-8012-B71B82A05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770" y="618844"/>
            <a:ext cx="10515600" cy="5620312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s-ES" sz="4000" b="1" dirty="0">
                <a:solidFill>
                  <a:srgbClr val="FF0000"/>
                </a:solidFill>
                <a:latin typeface="+mn-lt"/>
              </a:rPr>
              <a:t>Cierre de la sesión</a:t>
            </a:r>
            <a:r>
              <a:rPr lang="es-ES" sz="4000" b="1" dirty="0">
                <a:solidFill>
                  <a:schemeClr val="tx1"/>
                </a:solidFill>
                <a:latin typeface="+mn-lt"/>
              </a:rPr>
              <a:t>: Conocimos</a:t>
            </a:r>
            <a:r>
              <a:rPr lang="es-ES" sz="4000" b="1" dirty="0">
                <a:solidFill>
                  <a:srgbClr val="FF0000"/>
                </a:solidFill>
                <a:latin typeface="+mn-lt"/>
              </a:rPr>
              <a:t>	</a:t>
            </a:r>
            <a:endParaRPr lang="es-PE" dirty="0"/>
          </a:p>
          <a:p>
            <a:pPr marL="685800" indent="-45720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Patrón </a:t>
            </a:r>
            <a:r>
              <a:rPr lang="es-E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Memento </a:t>
            </a:r>
          </a:p>
          <a:p>
            <a:pPr marL="685800" indent="-457200">
              <a:buFont typeface="+mj-lt"/>
              <a:buAutoNum type="arabicPeriod"/>
            </a:pPr>
            <a:r>
              <a:rPr lang="es-ES" sz="2800" b="1" dirty="0">
                <a:solidFill>
                  <a:schemeClr val="tx1"/>
                </a:solidFill>
              </a:rPr>
              <a:t>Programación con Microservicios</a:t>
            </a:r>
          </a:p>
          <a:p>
            <a:pPr marL="228600" indent="0"/>
            <a:endParaRPr lang="es-MX" sz="2800" b="1" dirty="0">
              <a:solidFill>
                <a:schemeClr val="tx1"/>
              </a:solidFill>
            </a:endParaRPr>
          </a:p>
          <a:p>
            <a:pPr marL="685800" indent="-457200">
              <a:buFont typeface="+mj-lt"/>
              <a:buAutoNum type="arabicPeriod"/>
            </a:pPr>
            <a:endParaRPr lang="es-MX" sz="2800" b="1" dirty="0">
              <a:solidFill>
                <a:schemeClr val="tx1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</a:pPr>
            <a:endParaRPr lang="es-ES" sz="4000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0356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614</Words>
  <Application>Microsoft Office PowerPoint</Application>
  <PresentationFormat>Panorámica</PresentationFormat>
  <Paragraphs>62</Paragraphs>
  <Slides>19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Google Sans</vt:lpstr>
      <vt:lpstr>Times New Roman</vt:lpstr>
      <vt:lpstr>Wingdings</vt:lpstr>
      <vt:lpstr>TemaUTP</vt:lpstr>
      <vt:lpstr>Diseño personalizado</vt:lpstr>
      <vt:lpstr>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de Algoritmos Principios de Algoritmos Principios de Algoritmos Principios de Algoritmos Principios de Algoritmos</dc:title>
  <dc:creator>Orians, A.J.</dc:creator>
  <cp:lastModifiedBy>edwin josé chunga huatay</cp:lastModifiedBy>
  <cp:revision>100</cp:revision>
  <dcterms:modified xsi:type="dcterms:W3CDTF">2025-11-07T03:31:55Z</dcterms:modified>
</cp:coreProperties>
</file>