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7" r:id="rId2"/>
  </p:sldMasterIdLst>
  <p:notesMasterIdLst>
    <p:notesMasterId r:id="rId27"/>
  </p:notesMasterIdLst>
  <p:sldIdLst>
    <p:sldId id="256" r:id="rId3"/>
    <p:sldId id="270" r:id="rId4"/>
    <p:sldId id="279" r:id="rId5"/>
    <p:sldId id="258" r:id="rId6"/>
    <p:sldId id="259" r:id="rId7"/>
    <p:sldId id="268" r:id="rId8"/>
    <p:sldId id="317" r:id="rId9"/>
    <p:sldId id="319" r:id="rId10"/>
    <p:sldId id="327" r:id="rId11"/>
    <p:sldId id="322" r:id="rId12"/>
    <p:sldId id="321" r:id="rId13"/>
    <p:sldId id="323" r:id="rId14"/>
    <p:sldId id="324" r:id="rId15"/>
    <p:sldId id="328" r:id="rId16"/>
    <p:sldId id="329" r:id="rId17"/>
    <p:sldId id="325" r:id="rId18"/>
    <p:sldId id="326" r:id="rId19"/>
    <p:sldId id="330" r:id="rId20"/>
    <p:sldId id="318" r:id="rId21"/>
    <p:sldId id="331" r:id="rId22"/>
    <p:sldId id="302" r:id="rId23"/>
    <p:sldId id="297" r:id="rId24"/>
    <p:sldId id="280" r:id="rId25"/>
    <p:sldId id="26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gR7yFNaIG/aimm2QqEVwP9gU8E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40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8162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1f63892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731f63892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28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1f63892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731f63892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31f63892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731f63892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8AFF4AD5-A19C-B686-3C4B-F57F7B41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DF38306D-46C9-3BB2-9AFE-F78B477F2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402691CB-B46B-CC3D-C8C0-88DCD88F10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861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4E38E7A-3187-7024-AAE9-9F288102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A5D3DEBB-9007-794E-BD9D-E959A13ABF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C3762023-94A1-FF99-488E-31DCD8A7B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2020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EE1F317E-3138-24D6-568F-9C9F6120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5F728FD9-72CD-7956-B97A-8DF5658CB7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AD34F948-7421-2D81-F8C4-AFEC6C3F4E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542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F4633A7-D11D-7E58-36E3-12BA33DC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4DEE71F7-16BC-C879-ABD9-4944552E0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B4B987AC-32FD-0B58-5A45-E2EB1D66BF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7986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08D2F59-7851-2D3F-A717-E4105B66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9C659165-33CB-4ACC-637C-C78F051635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835526A3-538B-15B4-DAD8-E27DC5DA5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3480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4C4BBC6-3566-7D50-951B-3AF5CA3E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8C78F4FD-3AE7-17D3-444B-CEF89E6355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93719F9A-D17E-1E15-9E0A-F62ABB7890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0346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E8D3432-A90D-12AE-DBF2-1375849C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D8BED1FE-5341-1D17-BC52-73CE47B2DB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75A939A4-DFA1-494A-E3F4-95C3F866F3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453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E873D50-4064-8FEB-90CA-1EA8B7914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B8576E3D-44CC-E78B-9369-138B5FE52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1F5E477A-4648-3B7C-DEC9-D534007465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1853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E8AE7444-9C5D-C99F-99DC-04EA43A8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C7215E95-CF52-410E-E2F8-231B98188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D84A5688-A396-4C65-C85A-C49C047B3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4795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1F1F734-E85E-2D15-4EDD-5FF2611B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3BC4038B-274E-9A4F-F072-ABEAB3C79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47AC8D63-DB15-2C44-3CE3-28C8B7850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9441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307A6E9D-E2BA-22C9-DC04-5BDE230A4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6F280EAA-5DE6-5E64-727D-F7B334060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55249299-412B-DCA9-BEC1-1E28AB85E8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66095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E680BA3B-1F7C-5123-14B9-8FE8A3BA4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18EBC7C2-580C-DDDF-C379-F0266EA198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96467AE4-4A26-0F27-04B7-149CB451D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7859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FE6BC3D-55BC-0804-8AFD-C6E42664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91898692-C059-D4DF-97E1-5F6CAEC77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0818DCDF-C58F-8126-E675-60E126A72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9503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7ED822E-0EBD-0DA3-5095-22239482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D9D1A0DE-1F02-1D12-4BBF-E473933EC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EE65245A-F440-2800-98CA-90ADB38E3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04841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5e2434d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7f5e2434d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25611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>
  <p:cSld name="Solo el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8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722fb1a289_0_45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722fb1a289_0_450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g722fb1a289_0_450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4" name="Google Shape;44;g722fb1a289_0_450"/>
          <p:cNvSpPr txBox="1">
            <a:spLocks noGrp="1"/>
          </p:cNvSpPr>
          <p:nvPr>
            <p:ph type="body" idx="3"/>
          </p:nvPr>
        </p:nvSpPr>
        <p:spPr>
          <a:xfrm>
            <a:off x="6193367" y="1535113"/>
            <a:ext cx="53892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g722fb1a289_0_450"/>
          <p:cNvSpPr txBox="1">
            <a:spLocks noGrp="1"/>
          </p:cNvSpPr>
          <p:nvPr>
            <p:ph type="body" idx="4"/>
          </p:nvPr>
        </p:nvSpPr>
        <p:spPr>
          <a:xfrm>
            <a:off x="6193367" y="2174875"/>
            <a:ext cx="5389200" cy="39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6" name="Google Shape;46;g722fb1a289_0_45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722fb1a289_0_45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722fb1a289_0_45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14469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AC94F-79C9-461C-BC26-EF4D87B0B354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9E00B-97E2-42B9-B403-CFD8281424C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9097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751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2412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73566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077759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13757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6308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2409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12679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95408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3034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17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6" r:id="rId16"/>
    <p:sldLayoutId id="214748367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7FE0C-27CD-4620-89E6-3B05D4262BA3}" type="datetimeFigureOut">
              <a:rPr lang="es-PE" smtClean="0"/>
              <a:t>30/10/2025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43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ctrTitle"/>
          </p:nvPr>
        </p:nvSpPr>
        <p:spPr>
          <a:xfrm>
            <a:off x="1477108" y="1535724"/>
            <a:ext cx="9512400" cy="952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PE" dirty="0"/>
              <a:t>Diseño de Patrones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Sesión 12:</a:t>
            </a:r>
            <a:r>
              <a:rPr lang="es-PE" sz="4000" b="1" dirty="0">
                <a:solidFill>
                  <a:schemeClr val="dk1"/>
                </a:solidFill>
              </a:rPr>
              <a:t> </a:t>
            </a:r>
            <a:endParaRPr sz="4000" b="1" dirty="0">
              <a:solidFill>
                <a:schemeClr val="dk1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Patrón </a:t>
            </a:r>
            <a:r>
              <a:rPr lang="es-ES" sz="4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r>
              <a:rPr lang="pt-BR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6107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31f638921_0_4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Conocimientos previos:	</a:t>
            </a:r>
            <a:endParaRPr sz="4000" b="1" dirty="0">
              <a:solidFill>
                <a:srgbClr val="FF0000"/>
              </a:solidFill>
            </a:endParaRPr>
          </a:p>
          <a:p>
            <a:pPr marL="539750" lvl="0" indent="-539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s-E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el Patrón </a:t>
            </a:r>
            <a:r>
              <a:rPr lang="es-E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r>
              <a:rPr lang="es-E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6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31f638921_0_4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Logro de la sesión:	</a:t>
            </a:r>
            <a:endParaRPr sz="4000" b="1" dirty="0">
              <a:solidFill>
                <a:srgbClr val="FF0000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MX" sz="3200" b="1" dirty="0">
                <a:solidFill>
                  <a:schemeClr val="dk1"/>
                </a:solidFill>
              </a:rPr>
              <a:t>Al ﬁnalizar la sesión, el estudiante diseña componente de software, usando el patrón </a:t>
            </a:r>
            <a:r>
              <a:rPr lang="es-MX" sz="3200" b="1" dirty="0" err="1">
                <a:solidFill>
                  <a:schemeClr val="dk1"/>
                </a:solidFill>
              </a:rPr>
              <a:t>State</a:t>
            </a:r>
            <a:r>
              <a:rPr lang="es-MX" sz="3200" b="1" dirty="0">
                <a:solidFill>
                  <a:schemeClr val="dk1"/>
                </a:solidFill>
              </a:rPr>
              <a:t>, de un caso de estudio.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31f638921_0_8"/>
          <p:cNvSpPr txBox="1">
            <a:spLocks noGrp="1"/>
          </p:cNvSpPr>
          <p:nvPr>
            <p:ph type="body" idx="1"/>
          </p:nvPr>
        </p:nvSpPr>
        <p:spPr>
          <a:xfrm>
            <a:off x="625033" y="469339"/>
            <a:ext cx="10722417" cy="37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Utilidad de la sesión:	</a:t>
            </a:r>
            <a:endParaRPr sz="4000" b="1" dirty="0">
              <a:solidFill>
                <a:srgbClr val="FF0000"/>
              </a:solidFill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s-ES" sz="2800" b="1" dirty="0">
                <a:solidFill>
                  <a:schemeClr val="dk1"/>
                </a:solidFill>
              </a:rPr>
              <a:t>¿Qué pasaría si no conocemos el patrón </a:t>
            </a:r>
            <a:r>
              <a:rPr lang="es-ES" sz="2800" b="1" dirty="0" err="1">
                <a:solidFill>
                  <a:schemeClr val="dk1"/>
                </a:solidFill>
              </a:rPr>
              <a:t>State</a:t>
            </a:r>
            <a:r>
              <a:rPr lang="es-ES" sz="2800" b="1" dirty="0">
                <a:solidFill>
                  <a:schemeClr val="dk1"/>
                </a:solidFill>
              </a:rPr>
              <a:t>?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s-ES" sz="2800" b="1" dirty="0">
                <a:solidFill>
                  <a:schemeClr val="dk1"/>
                </a:solidFill>
              </a:rPr>
              <a:t>¿Sabríamos construir software?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s-ES" sz="2800" b="1" dirty="0">
                <a:solidFill>
                  <a:schemeClr val="dk1"/>
                </a:solidFill>
              </a:rPr>
              <a:t>Conocer el patrón </a:t>
            </a:r>
            <a:r>
              <a:rPr lang="es-ES" sz="2800" b="1" dirty="0" err="1">
                <a:solidFill>
                  <a:schemeClr val="dk1"/>
                </a:solidFill>
              </a:rPr>
              <a:t>State</a:t>
            </a:r>
            <a:r>
              <a:rPr lang="es-ES" sz="2800" b="1" dirty="0">
                <a:solidFill>
                  <a:schemeClr val="dk1"/>
                </a:solidFill>
              </a:rPr>
              <a:t> es útil porque permite construir  componente de software.</a:t>
            </a:r>
            <a:endParaRPr lang="es-ES" sz="2800" b="1" dirty="0">
              <a:solidFill>
                <a:schemeClr val="dk1"/>
              </a:solidFill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EC6DAFC-5C18-4F43-8012-B71B82A05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509"/>
            <a:ext cx="10515600" cy="5620312"/>
          </a:xfrm>
        </p:spPr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rgbClr val="FF0000"/>
                </a:solidFill>
                <a:latin typeface="+mn-lt"/>
              </a:rPr>
              <a:t>Transformación de la sesión:	</a:t>
            </a:r>
          </a:p>
          <a:p>
            <a:pPr marL="685800" indent="-457200">
              <a:buFont typeface="+mj-lt"/>
              <a:buAutoNum type="arabicPeriod"/>
            </a:pPr>
            <a:r>
              <a:rPr lang="es-ES" sz="3200" b="1" dirty="0">
                <a:solidFill>
                  <a:schemeClr val="tx1"/>
                </a:solidFill>
              </a:rPr>
              <a:t>Patrón </a:t>
            </a:r>
            <a:r>
              <a:rPr lang="es-ES" sz="3200" b="1" dirty="0" err="1">
                <a:solidFill>
                  <a:schemeClr val="tx1"/>
                </a:solidFill>
              </a:rPr>
              <a:t>State</a:t>
            </a:r>
            <a:endParaRPr lang="es-ES" sz="3200" b="1" dirty="0">
              <a:solidFill>
                <a:schemeClr val="tx1"/>
              </a:solidFill>
            </a:endParaRPr>
          </a:p>
          <a:p>
            <a:pPr marL="685800" indent="-457200">
              <a:buFont typeface="+mj-lt"/>
              <a:buAutoNum type="arabicPeriod"/>
            </a:pPr>
            <a:r>
              <a:rPr lang="es-ES" sz="3200" b="1" dirty="0">
                <a:solidFill>
                  <a:schemeClr val="tx1"/>
                </a:solidFill>
              </a:rPr>
              <a:t>Programación con Microservicios</a:t>
            </a:r>
          </a:p>
          <a:p>
            <a:pPr marL="685800" indent="-457200">
              <a:buFont typeface="+mj-lt"/>
              <a:buAutoNum type="arabicPeriod"/>
            </a:pPr>
            <a:endParaRPr lang="es-MX" sz="3200" b="1" dirty="0">
              <a:solidFill>
                <a:schemeClr val="tx1"/>
              </a:solidFill>
            </a:endParaRPr>
          </a:p>
          <a:p>
            <a:endParaRPr lang="es-MX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2272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884E4A1-C3D7-F194-743C-1B21F6E3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2F199E61-DCB6-A0FB-60E6-8E582AAF012E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838AE860-B881-4F7C-7DB6-EEFE5E30002E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3E7C9344-4FEE-7B08-FC5D-F0D5AE2980A6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24CF34F0-D06F-7BE1-1367-9AF5495330FD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612B4F55-B4B3-1A99-C73D-E631C92824AE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1. Patrón </a:t>
            </a:r>
            <a:r>
              <a:rPr lang="es-ES" sz="4000" b="1" dirty="0" err="1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State</a:t>
            </a:r>
            <a:endParaRPr lang="es-ES" sz="4000" b="1" dirty="0">
              <a:solidFill>
                <a:srgbClr val="FFFF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832BCA70-CEC9-1CB0-1E93-532EAFE5E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40663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Es un patrón de comportamiento que permite a un objeto cambiar su comportamiento cuando su estado interno cambia.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En lugar de usar declaraciones condicionales, el objeto delega las responsabilidades específicas del estado a clases de estado separadas.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Esto crea un código más limpio y fácil de gestionar, ya que el comportamiento de cada estado está encapsulado en su propia clase. </a:t>
            </a: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66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9B72BAC2-42C8-48D1-4A32-5CB0084D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81CB024D-E0A2-E3CB-C610-DFD30D60C14C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673CBEBE-3C62-EAA6-6D07-6D86D1603054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CE408603-7152-2E53-47CA-C550B2F8BDCA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790DDD7A-FEA4-BA0A-1A43-9D7A905688B2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0B54ACC6-AA88-DE40-C084-31B29DA70EF9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Componentes principales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4ABD8767-C752-8731-2D86-CF78FE1E2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49299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Contexto: El objeto principal que mantiene una referencia a un objeto de estado y delega la ejecución de los métodos relacionados con el estado a este objeto.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Estado: Una interfaz o clase abstracta que define el comportamiento común para todos los estados concretos.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Estados concretos: Clases que implementan la interfaz Estado y definen el comportamiento específico para cada estado.</a:t>
            </a: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3F2901-E749-CE0C-EB61-7DA675279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285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FB8FEB1A-505C-FCDF-0A99-A3A97F10E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E2A6011D-1748-A20E-B0CB-1DC533B32607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16F821F2-F02A-BABD-71DD-ABA093648D74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FE221824-033D-AB30-2663-B0F2ED7941C3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7B7B84B9-93AE-54D3-AB71-1D8F22EF73C5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644D07BC-0EF2-E0E4-C854-912D238BA6EA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¿Cómo funciona?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9BB8E570-536E-B896-FF71-4C9F5E709A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49299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El objeto Contexto tiene una referencia a un objeto de estado que representa su estado actual.</a:t>
            </a:r>
          </a:p>
          <a:p>
            <a:pPr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Cuando se llama a un método en el Contexto, este delega la llamada al objeto de estado actual.</a:t>
            </a:r>
          </a:p>
          <a:p>
            <a:pPr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El objeto de estado actual ejecuta el código que le corresponde a su estado.</a:t>
            </a:r>
          </a:p>
          <a:p>
            <a:pPr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Si el estado debe cambiar, el objeto de estado actual puede solicitar al Contexto que sustituya su referencia de estado por otra. </a:t>
            </a: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2D7BFD-8104-2047-C347-AC8C6218C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86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A11B909-59B6-3010-466C-1DDB7C157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3F77C9C3-FB95-D1A8-82F6-DFE0A0C7734B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CF014A7F-5F58-D56B-69AC-53CDF0FB120E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3E4FEE13-F9C3-3E27-7997-8FA2BA4B1DC0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51AFD9E6-9158-967C-96AA-A7B2DF157E47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36913462-8DE7-4BC4-0501-CC5E422707A0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Ventajas y Desventajas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CA861604-44C3-EE75-E142-BC04C4210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524103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Ventajas:</a:t>
            </a:r>
          </a:p>
          <a:p>
            <a:pPr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Código más limpio: Elimina complejas sentencias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o switch anidadas dentro de la clase Contexto.</a:t>
            </a:r>
          </a:p>
          <a:p>
            <a:pPr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Fácil de añadir nuevos estados: Puedes agregar nuevos estados simplemente creando una nueva clase de estado sin modificar la lógica existente en las otras clases de estado.</a:t>
            </a:r>
          </a:p>
          <a:p>
            <a:pPr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Evita el acoplamiento: Mantiene el código del estado separado del código del objeto que lo utiliza.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Desventajas:</a:t>
            </a:r>
          </a:p>
          <a:p>
            <a:pPr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Puede resultar en una gran cantidad de clases, lo que puede ser excesivo para sistemas sencillos.</a:t>
            </a:r>
          </a:p>
          <a:p>
            <a:pPr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Cada estado es un objeto separado, lo que puede generar una sobrecarga de memoria.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5C51F0-1D83-20AA-B8FB-F27C05961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5482"/>
            <a:ext cx="171522" cy="930964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PE" altLang="es-PE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0C57098-A439-617C-2F33-C8625A419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359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31B41265-9390-53D1-8F70-EA0A4A98D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8D157B6E-29B4-3872-4BFF-FA9A3EF6FBB6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AD2144C7-F87C-0CAE-00C3-2B63BCFF3F7B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2743CB26-E3CD-F21A-43D0-5D742D266FEE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9FA4A34B-BDF4-8992-0174-BBDAE74AF360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772E8F13-8E4E-8D24-7AD7-FEEB397A3446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 Semáforo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8633A6FC-1C8F-322C-697F-1730DDA90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544708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Estados:</a:t>
            </a:r>
          </a:p>
          <a:p>
            <a:pPr marL="715963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Rojo</a:t>
            </a:r>
          </a:p>
          <a:p>
            <a:pPr marL="715963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Amarillo</a:t>
            </a:r>
          </a:p>
          <a:p>
            <a:pPr marL="715963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Verde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Comportamiento:</a:t>
            </a:r>
          </a:p>
          <a:p>
            <a:pPr marL="715963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Estado: Verde</a:t>
            </a:r>
          </a:p>
          <a:p>
            <a:pPr marL="1074738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Acción: Los autos pueden pasar.</a:t>
            </a:r>
          </a:p>
          <a:p>
            <a:pPr marL="1074738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Transición: El estado cambia a "amarillo" después de un tiempo.</a:t>
            </a:r>
          </a:p>
          <a:p>
            <a:pPr marL="715963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Estado: Amarillo</a:t>
            </a:r>
          </a:p>
          <a:p>
            <a:pPr marL="1074738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Acción: Los autos se preparan para detenerse.</a:t>
            </a:r>
          </a:p>
          <a:p>
            <a:pPr marL="1074738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Transición: El estado cambia a "rojo".</a:t>
            </a:r>
          </a:p>
          <a:p>
            <a:pPr marL="715963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Estado: Rojo</a:t>
            </a:r>
          </a:p>
          <a:p>
            <a:pPr marL="1074738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Acción: Los autos deben detenerse.</a:t>
            </a:r>
          </a:p>
          <a:p>
            <a:pPr marL="1074738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Transición: El estado cambia a "verde" después de un tiempo. 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E1CF47-7ADB-35B7-1001-DD32146D6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0C249E-ABA7-AAA6-00E7-59E88D7E0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879"/>
            <a:ext cx="65" cy="507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998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122E642-C55E-8850-85B2-B79BEBD3D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B640DCAC-D599-C618-50DC-4498A4238C69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8518F8A5-ECD5-7DD7-9EF1-8C8BC5B9BD05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4297F62A-7B53-C755-ECFA-0909B1665473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94125A65-F95C-5FD8-DBFA-3CB54C1ED484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26686090-876B-F709-4997-16FC39243920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D586BF61-C533-618D-E89F-9043A68E2D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3833" y="1054259"/>
            <a:ext cx="11009207" cy="9777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Definir la interfaz 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EstadoSemaforo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Esta interfaz define el método que los estados concretos deben implementar. Actúa como el contrato que todos los estados deben seguir.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9DE74C-5665-7E34-032C-B9E1EAFAE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3A89BA6-09EE-06DC-E314-480E41AE2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300D04-68C4-066A-71A5-F8BB5CB86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859" y="2448686"/>
            <a:ext cx="6049219" cy="82879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464335F-A866-610C-2DE5-7382234B5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5575"/>
            <a:ext cx="65" cy="6311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28528" rIns="0" bIns="122199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512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B0661069-E37C-13EC-C862-E59C59EA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B27FF2A6-8C03-5F84-BD71-3EEFB8EE3CAE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403B7313-9B61-54E7-F933-C605BF3657B6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7ABA9BCB-2272-A719-C2E3-4365E315D8BD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21D21FE7-C2B9-9E1B-90B9-ABB7B7138821}"/>
              </a:ext>
            </a:extLst>
          </p:cNvPr>
          <p:cNvSpPr/>
          <p:nvPr/>
        </p:nvSpPr>
        <p:spPr>
          <a:xfrm>
            <a:off x="613833" y="95740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0EBE0A3D-FF7D-1F91-2350-EE0EEF8491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502" y="670784"/>
            <a:ext cx="11259868" cy="9207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indent="-457200" algn="just">
              <a:lnSpc>
                <a:spcPct val="100000"/>
              </a:lnSpc>
              <a:buFont typeface="+mj-lt"/>
              <a:buAutoNum type="arabicPeriod" startAt="2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Implementar los estados concretos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Estas clases implementan la interfaz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EstadoSemaforo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y definen la lógica específica para cada estado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DCEA9B-DCE2-B799-5B88-922C7485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0E691FA-70AC-B019-A8B3-AAA5477AB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DBED784-595B-B306-E40B-77A447AD1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405" y="1792157"/>
            <a:ext cx="7889190" cy="439505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7085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E72B628-4185-F453-B7F1-73B1A490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119339FF-1F2F-1A98-F239-C7A61D080F7A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4C9EDA1D-80E7-B9AA-63A3-BE3FB6BBE1E9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6AA4BC80-B8B7-059B-2295-CA773B495808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0EF299CE-756C-48D5-017C-8D13B18D99A1}"/>
              </a:ext>
            </a:extLst>
          </p:cNvPr>
          <p:cNvSpPr/>
          <p:nvPr/>
        </p:nvSpPr>
        <p:spPr>
          <a:xfrm>
            <a:off x="613833" y="95740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7BA95FE5-B973-A942-C762-4BDC0A370C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502" y="670784"/>
            <a:ext cx="11259868" cy="80982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indent="-457200" algn="just">
              <a:lnSpc>
                <a:spcPct val="100000"/>
              </a:lnSpc>
              <a:buFont typeface="+mj-lt"/>
              <a:buAutoNum type="arabicPeriod" startAt="2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Implementar los estados concretos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Estas clases implementan la interfaz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EstadoSemaforo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y definen la lógica específica para cada estado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38EDD3-AC6E-EDC5-33C3-A61686FB7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43B0134-16F8-E76A-481F-9060B40E2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5159C3-0FC9-058C-408D-C6423075D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504" y="1681203"/>
            <a:ext cx="8143454" cy="474079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2727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87B934CF-94B2-1BE4-66E0-6C28C264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14FEED26-15AF-C3EB-A412-9E1E5FC61E4B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4F8B5543-8AF7-AF2A-E9FE-59AA149321D3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037A232B-24FD-2E07-EE82-69077CB60500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F009C092-92BF-E40F-CCB8-61D9AACFD99E}"/>
              </a:ext>
            </a:extLst>
          </p:cNvPr>
          <p:cNvSpPr/>
          <p:nvPr/>
        </p:nvSpPr>
        <p:spPr>
          <a:xfrm>
            <a:off x="613833" y="95740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5534FD8D-A1E5-4DCF-DA9F-D4AD3D2BA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502" y="670784"/>
            <a:ext cx="11259868" cy="89852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indent="-457200" algn="just">
              <a:lnSpc>
                <a:spcPct val="100000"/>
              </a:lnSpc>
              <a:buFont typeface="+mj-lt"/>
              <a:buAutoNum type="arabicPeriod" startAt="2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Implementar los estados concretos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Estas clases implementan la interfaz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EstadoSemaforo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y definen la lógica específica para cada estado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11A996-5C9F-BA50-9189-BCD9196AF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E4B7590-DA9F-BD3C-E27E-36F613B01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287077-D2A8-E79B-EC7B-72DA3FA2C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223" y="1742542"/>
            <a:ext cx="7945451" cy="444467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5674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E70C57A9-B347-EFF5-9CAE-1A9BD0A40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CE2C9ECA-C048-6CC9-2EB7-A72E94087FBD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C87EF080-3A97-1FFA-797A-2D0C16891B44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10F53A5E-CC4F-9E93-4B3B-2322AACE1A74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7B8B221F-3EF6-705C-3771-6E61FBF8CBB6}"/>
              </a:ext>
            </a:extLst>
          </p:cNvPr>
          <p:cNvSpPr/>
          <p:nvPr/>
        </p:nvSpPr>
        <p:spPr>
          <a:xfrm>
            <a:off x="613833" y="40626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CD14290A-E2F0-611D-0AD7-DA0F360CA9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502" y="620183"/>
            <a:ext cx="11259868" cy="8255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indent="-457200" algn="just">
              <a:lnSpc>
                <a:spcPct val="100000"/>
              </a:lnSpc>
              <a:buFont typeface="+mj-lt"/>
              <a:buAutoNum type="arabicPeriod" startAt="3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Implementar la clase de contexto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La clase Semáforo mantiene una referencia al estado actual y delega las operaciones al objeto de estado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7A45DA-8021-6778-CF78-C2C35E8DB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119C09D-656A-122A-CDBC-945D26AA3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8631D7-41A0-7F74-8B99-9566E35DF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122" y="1648941"/>
            <a:ext cx="7090627" cy="505797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6228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9081C513-96DD-BEC8-50DE-EC4CC4BF0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2AA116C2-9082-AB1F-35D3-258B39B12154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C46F6367-35E8-9164-0EE0-467EF142CEF4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D9CDC031-2AC0-E65E-D0DB-CAFEDB526F9A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076D38E4-FE48-3B2D-4D22-A80C1AFED17B}"/>
              </a:ext>
            </a:extLst>
          </p:cNvPr>
          <p:cNvSpPr/>
          <p:nvPr/>
        </p:nvSpPr>
        <p:spPr>
          <a:xfrm>
            <a:off x="613833" y="40626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7ACE3B2B-62D3-44BF-648A-C247841F3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502" y="620183"/>
            <a:ext cx="11259868" cy="57955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indent="-457200" algn="just">
              <a:lnSpc>
                <a:spcPct val="100000"/>
              </a:lnSpc>
              <a:buFont typeface="+mj-lt"/>
              <a:buAutoNum type="arabicPeriod" startAt="4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Cliente: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La clase principal crea una instancia de Semáforo y simula el cambio de estados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E15A9-9F05-9FDC-B49C-1524E083E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C903610-011B-DEFE-7CB3-9A808A7BE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46C15D-5A50-ECE5-0E47-F0A5B5DED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760" y="1402940"/>
            <a:ext cx="7436814" cy="470129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05190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0338E62-B8B8-B2DB-0205-4CD335B39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5C605E1C-22F6-7DB6-F106-8F3B2DB77912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D57A5C19-56AD-4E7E-34F3-9EB7721B6EB1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4EF16C38-02FF-0234-3C79-BFCEA49F72BC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AAABA7D7-BA3D-2E96-E614-47FDB5EF0A5A}"/>
              </a:ext>
            </a:extLst>
          </p:cNvPr>
          <p:cNvSpPr/>
          <p:nvPr/>
        </p:nvSpPr>
        <p:spPr>
          <a:xfrm>
            <a:off x="613833" y="40626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112ABE6A-214C-2A1D-20C7-1FB724D4BF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502" y="620183"/>
            <a:ext cx="11259868" cy="57955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indent="-457200" algn="just">
              <a:lnSpc>
                <a:spcPct val="100000"/>
              </a:lnSpc>
              <a:buFont typeface="+mj-lt"/>
              <a:buAutoNum type="arabicPeriod" startAt="4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Salida esperada del programa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6E9873-4814-3ABE-7871-51017C9F7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7AA0143-3398-19D4-1562-C3F97BFEE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8E7A45-E06F-E9C4-B10E-3D2021900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986" y="1885037"/>
            <a:ext cx="7637675" cy="251396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62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C4B2242-F7F5-55EC-7DAB-4CBA96454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06B96D05-90B1-2344-4568-60096BFFFAA4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4D95FB2A-71B2-CE7A-8876-2FC6A943B022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44536C5A-B787-9163-5E45-61646C0DB4CC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7C3A65D9-F77E-AD76-CE8F-D63F5DEFF289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0E73A18B-A0F6-B356-796B-0333D5B57D57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2. Programación con Microservicios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74EC8C-1162-553B-E825-DB84DD43D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AA9632-4BF8-50F1-A055-1B258BFA0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33" y="1084302"/>
            <a:ext cx="10515600" cy="5218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PE" sz="2000" dirty="0"/>
              <a:t>Arquitectura de Microservicios: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7970C46-279F-BC10-2D67-5DDA4AFF6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070" y="1751621"/>
            <a:ext cx="7278130" cy="474972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445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CF69E856-AF74-B772-F921-0ED703C8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39DA2C8A-B643-22C6-7843-7F18A1B5190E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E2A254FF-2B82-1D7A-F7CE-BE5014D736B0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5BCD8D5B-51C5-9424-41BC-AD971EB6DBEA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9DA60B2A-5E93-F71C-4C2B-5B84E0D38063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251F97AF-D614-E6CF-AF08-AE6FBA18EF14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2. Programación con Microservicios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97A5C-36DE-059A-3867-4647CABFD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A233EE-92EC-9241-A1C9-8C3A2551E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33" y="1084302"/>
            <a:ext cx="10515600" cy="5218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PE" sz="2000" dirty="0"/>
              <a:t>Arquitectura de Microservicios: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ADF33BE-37D8-0CB7-8A2B-927050323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785" y="1636183"/>
            <a:ext cx="7500550" cy="508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682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EC6DAFC-5C18-4F43-8012-B71B82A05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rgbClr val="FF0000"/>
                </a:solidFill>
                <a:latin typeface="+mn-lt"/>
              </a:rPr>
              <a:t>Espacio práctico:	</a:t>
            </a:r>
          </a:p>
          <a:p>
            <a:pPr marL="685800" indent="-457200">
              <a:buFont typeface="+mj-lt"/>
              <a:buAutoNum type="arabicPeriod"/>
            </a:pPr>
            <a:r>
              <a:rPr lang="es-ES" sz="3200" dirty="0">
                <a:solidFill>
                  <a:schemeClr val="tx1"/>
                </a:solidFill>
              </a:rPr>
              <a:t>Implementación de microservicios</a:t>
            </a:r>
          </a:p>
        </p:txBody>
      </p:sp>
    </p:spTree>
    <p:extLst>
      <p:ext uri="{BB962C8B-B14F-4D97-AF65-F5344CB8AC3E}">
        <p14:creationId xmlns:p14="http://schemas.microsoft.com/office/powerpoint/2010/main" val="1394914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f5e2434d8_1_0"/>
          <p:cNvSpPr/>
          <p:nvPr/>
        </p:nvSpPr>
        <p:spPr>
          <a:xfrm>
            <a:off x="1802997" y="137359"/>
            <a:ext cx="8640800" cy="77080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FFFFFF"/>
              </a:buClr>
              <a:buSzPts val="4000"/>
            </a:pPr>
            <a:r>
              <a:rPr lang="es-PE" sz="5333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 de estudio </a:t>
            </a:r>
            <a:endParaRPr sz="1867" dirty="0"/>
          </a:p>
        </p:txBody>
      </p:sp>
      <p:sp>
        <p:nvSpPr>
          <p:cNvPr id="179" name="Google Shape;179;g7f5e2434d8_1_0"/>
          <p:cNvSpPr txBox="1">
            <a:spLocks noGrp="1"/>
          </p:cNvSpPr>
          <p:nvPr>
            <p:ph type="body" idx="1"/>
          </p:nvPr>
        </p:nvSpPr>
        <p:spPr>
          <a:xfrm>
            <a:off x="831850" y="1288026"/>
            <a:ext cx="10515600" cy="28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indent="0" algn="just"/>
            <a:r>
              <a:rPr lang="es-ES" sz="2000" b="1" dirty="0">
                <a:solidFill>
                  <a:schemeClr val="tx1"/>
                </a:solidFill>
                <a:cs typeface="Times New Roman" pitchFamily="18" charset="0"/>
              </a:rPr>
              <a:t>Caso de estudio: Tienda</a:t>
            </a:r>
          </a:p>
          <a:p>
            <a:pPr marL="0" indent="0" algn="just"/>
            <a:r>
              <a:rPr lang="es-ES" sz="2000" dirty="0">
                <a:solidFill>
                  <a:schemeClr val="tx1"/>
                </a:solidFill>
                <a:cs typeface="Times New Roman" pitchFamily="18" charset="0"/>
              </a:rPr>
              <a:t>La empresa comercial “Alfa S.A.” es líder en la comercialización de artículos de primera necesidad. Cuando se realiza una venta el cliente ingresa a la tienda, se dirige al exhibidor de artículos organizados en secciones, clasificados por su naturaleza (galletas, cereales, frutas, carnes, etc.), selecciona el o los articulo(s) a comprar y agrega a un carrito de compras, luego se dirige a la caja registradora para cancelar, es atendido por el cajero(a) quien elabora la boleta de  venta y entrega los artículos.</a:t>
            </a:r>
          </a:p>
          <a:p>
            <a:pPr marL="0" indent="0" algn="just"/>
            <a:endParaRPr lang="es-MX" sz="2000" dirty="0">
              <a:solidFill>
                <a:schemeClr val="tx1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002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EC6DAFC-5C18-4F43-8012-B71B82A05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770" y="618844"/>
            <a:ext cx="10515600" cy="5620312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rgbClr val="FF0000"/>
                </a:solidFill>
                <a:latin typeface="+mn-lt"/>
              </a:rPr>
              <a:t>Cierre de la sesión</a:t>
            </a:r>
            <a:r>
              <a:rPr lang="es-ES" sz="4000" b="1" dirty="0">
                <a:solidFill>
                  <a:schemeClr val="tx1"/>
                </a:solidFill>
                <a:latin typeface="+mn-lt"/>
              </a:rPr>
              <a:t>: Conocimos</a:t>
            </a:r>
            <a:r>
              <a:rPr lang="es-ES" sz="4000" b="1" dirty="0">
                <a:solidFill>
                  <a:srgbClr val="FF0000"/>
                </a:solidFill>
                <a:latin typeface="+mn-lt"/>
              </a:rPr>
              <a:t>	</a:t>
            </a:r>
            <a:endParaRPr lang="es-PE" dirty="0"/>
          </a:p>
          <a:p>
            <a:pPr marL="685800" indent="-457200">
              <a:buFont typeface="+mj-lt"/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Patrón </a:t>
            </a:r>
            <a:r>
              <a:rPr lang="es-ES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r>
              <a:rPr lang="es-E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685800" indent="-457200">
              <a:buFont typeface="+mj-lt"/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Programación con Microservicios</a:t>
            </a:r>
          </a:p>
          <a:p>
            <a:pPr marL="228600" indent="0"/>
            <a:endParaRPr lang="es-MX" sz="2800" b="1" dirty="0">
              <a:solidFill>
                <a:schemeClr val="tx1"/>
              </a:solidFill>
            </a:endParaRPr>
          </a:p>
          <a:p>
            <a:pPr marL="685800" indent="-457200">
              <a:buFont typeface="+mj-lt"/>
              <a:buAutoNum type="arabicPeriod"/>
            </a:pPr>
            <a:endParaRPr lang="es-MX" sz="2800" b="1" dirty="0">
              <a:solidFill>
                <a:schemeClr val="tx1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endParaRPr lang="es-ES" sz="4000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0356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830</Words>
  <Application>Microsoft Office PowerPoint</Application>
  <PresentationFormat>Panorámica</PresentationFormat>
  <Paragraphs>96</Paragraphs>
  <Slides>24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Google Sans</vt:lpstr>
      <vt:lpstr>Times New Roman</vt:lpstr>
      <vt:lpstr>Wingdings</vt:lpstr>
      <vt:lpstr>TemaUTP</vt:lpstr>
      <vt:lpstr>Diseño personalizado</vt:lpstr>
      <vt:lpstr>Diseño de Patrones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Principios de Algoritmos Principios de Algoritmos Principios de Algoritmos Principios de Algoritmos Principios de Algoritmos</dc:title>
  <dc:creator>Orians, A.J.</dc:creator>
  <cp:lastModifiedBy>EDWIN JOSE CHUNGA HUATAY</cp:lastModifiedBy>
  <cp:revision>97</cp:revision>
  <dcterms:modified xsi:type="dcterms:W3CDTF">2025-10-30T22:51:26Z</dcterms:modified>
</cp:coreProperties>
</file>